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A2F80-9C72-4095-93C7-8481A0F0F768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1D78F-A7D5-4AC1-843A-025878DCD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74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1D78F-A7D5-4AC1-843A-025878DCDBD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149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AB32-9979-BF21-EE11-DC14B7E1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DCCD24-0AC2-B7BD-96F0-8311B646712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3EE904-DEF5-298C-4501-78AE6A932A4F}"/>
              </a:ext>
            </a:extLst>
          </p:cNvPr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3381C-3B97-FFD4-0764-B34F24E369B2}"/>
              </a:ext>
            </a:extLst>
          </p:cNvPr>
          <p:cNvSpPr/>
          <p:nvPr/>
        </p:nvSpPr>
        <p:spPr>
          <a:xfrm>
            <a:off x="457200" y="0"/>
            <a:ext cx="117317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BE3B4-B38C-472D-181A-B65B2B1CA473}"/>
              </a:ext>
            </a:extLst>
          </p:cNvPr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UrbanRide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30DD-2760-67B0-A0A8-14A66CFA5310}"/>
              </a:ext>
            </a:extLst>
          </p:cNvPr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C2CB"/>
                </a:solidFill>
                <a:latin typeface="Calibri"/>
              </a:rPr>
              <a:t>Data Lakehouse 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40A419-00EC-9F3F-044B-9C3CCFC263B7}"/>
              </a:ext>
            </a:extLst>
          </p:cNvPr>
          <p:cNvSpPr/>
          <p:nvPr/>
        </p:nvSpPr>
        <p:spPr>
          <a:xfrm>
            <a:off x="914400" y="3337560"/>
            <a:ext cx="7315200" cy="457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BCFF5D-860F-08EA-E04C-4E82957ED0E7}"/>
              </a:ext>
            </a:extLst>
          </p:cNvPr>
          <p:cNvSpPr txBox="1"/>
          <p:nvPr/>
        </p:nvSpPr>
        <p:spPr>
          <a:xfrm>
            <a:off x="91440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0C8E8"/>
                </a:solidFill>
                <a:latin typeface="Calibri"/>
              </a:rPr>
              <a:t>End-to-End Data Engineering &amp; ML Platform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CBFFAA-6DF9-96B0-8D04-019EA282A3F6}"/>
              </a:ext>
            </a:extLst>
          </p:cNvPr>
          <p:cNvSpPr txBox="1"/>
          <p:nvPr/>
        </p:nvSpPr>
        <p:spPr>
          <a:xfrm>
            <a:off x="91440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Databricks · Delta Lake · Unity Catalog · MLflow · Spark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96B8B-5CD0-E414-2AB5-5ABE84B4D110}"/>
              </a:ext>
            </a:extLst>
          </p:cNvPr>
          <p:cNvSpPr/>
          <p:nvPr/>
        </p:nvSpPr>
        <p:spPr>
          <a:xfrm>
            <a:off x="914400" y="4846320"/>
            <a:ext cx="2194560" cy="12801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23F28-A9C7-3AEE-A4C7-8CEA424BBAC5}"/>
              </a:ext>
            </a:extLst>
          </p:cNvPr>
          <p:cNvSpPr txBox="1"/>
          <p:nvPr/>
        </p:nvSpPr>
        <p:spPr>
          <a:xfrm>
            <a:off x="1051560" y="49194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2F"/>
                </a:solidFill>
                <a:latin typeface="Calibri"/>
              </a:rPr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596CEB-244A-A87F-42A8-3DD015754B4F}"/>
              </a:ext>
            </a:extLst>
          </p:cNvPr>
          <p:cNvSpPr txBox="1"/>
          <p:nvPr/>
        </p:nvSpPr>
        <p:spPr>
          <a:xfrm>
            <a:off x="1051560" y="5468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Notebooks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D4922E-9B1C-13DB-1732-EED62FC035FA}"/>
              </a:ext>
            </a:extLst>
          </p:cNvPr>
          <p:cNvSpPr/>
          <p:nvPr/>
        </p:nvSpPr>
        <p:spPr>
          <a:xfrm>
            <a:off x="3474720" y="4846320"/>
            <a:ext cx="2194560" cy="12801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8AC63E-1F70-73A1-DAF3-C9FEB21F0623}"/>
              </a:ext>
            </a:extLst>
          </p:cNvPr>
          <p:cNvSpPr txBox="1"/>
          <p:nvPr/>
        </p:nvSpPr>
        <p:spPr>
          <a:xfrm>
            <a:off x="3611879" y="49194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2F"/>
                </a:solidFill>
                <a:latin typeface="Calibri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230FA0-126E-240B-A5AC-0A726D0571F3}"/>
              </a:ext>
            </a:extLst>
          </p:cNvPr>
          <p:cNvSpPr txBox="1"/>
          <p:nvPr/>
        </p:nvSpPr>
        <p:spPr>
          <a:xfrm>
            <a:off x="3611879" y="5468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ML Models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EC3D2F-E238-5894-1929-519EC83C351A}"/>
              </a:ext>
            </a:extLst>
          </p:cNvPr>
          <p:cNvSpPr/>
          <p:nvPr/>
        </p:nvSpPr>
        <p:spPr>
          <a:xfrm>
            <a:off x="6035040" y="4846320"/>
            <a:ext cx="2194560" cy="12801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0497E6-8CE1-563B-9ADE-CE515B495074}"/>
              </a:ext>
            </a:extLst>
          </p:cNvPr>
          <p:cNvSpPr txBox="1"/>
          <p:nvPr/>
        </p:nvSpPr>
        <p:spPr>
          <a:xfrm>
            <a:off x="6172200" y="49194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2F"/>
                </a:solidFill>
                <a:latin typeface="Calibri"/>
              </a:rPr>
              <a:t>19.6M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2E54E-B461-3E84-7369-35117DF7D49F}"/>
              </a:ext>
            </a:extLst>
          </p:cNvPr>
          <p:cNvSpPr txBox="1"/>
          <p:nvPr/>
        </p:nvSpPr>
        <p:spPr>
          <a:xfrm>
            <a:off x="6172200" y="5468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Payments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B22112-5970-0CF6-E47B-307504B466E1}"/>
              </a:ext>
            </a:extLst>
          </p:cNvPr>
          <p:cNvSpPr/>
          <p:nvPr/>
        </p:nvSpPr>
        <p:spPr>
          <a:xfrm>
            <a:off x="8595359" y="4846320"/>
            <a:ext cx="2194560" cy="12801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9E48BF-5FEC-6587-35B3-ECE4B669C278}"/>
              </a:ext>
            </a:extLst>
          </p:cNvPr>
          <p:cNvSpPr txBox="1"/>
          <p:nvPr/>
        </p:nvSpPr>
        <p:spPr>
          <a:xfrm>
            <a:off x="8732519" y="49194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2F"/>
                </a:solidFill>
                <a:latin typeface="Calibri"/>
              </a:rPr>
              <a:t>89K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7DA5EA-7437-1105-AAF3-29B97150A75B}"/>
              </a:ext>
            </a:extLst>
          </p:cNvPr>
          <p:cNvSpPr txBox="1"/>
          <p:nvPr/>
        </p:nvSpPr>
        <p:spPr>
          <a:xfrm>
            <a:off x="8732519" y="5468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Customers</a:t>
            </a:r>
          </a:p>
        </p:txBody>
      </p:sp>
    </p:spTree>
    <p:extLst>
      <p:ext uri="{BB962C8B-B14F-4D97-AF65-F5344CB8AC3E}">
        <p14:creationId xmlns:p14="http://schemas.microsoft.com/office/powerpoint/2010/main" val="2192215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C8E8"/>
                </a:solidFill>
                <a:latin typeface="Calibri"/>
              </a:rPr>
              <a:t>UrbanRide had data — but no platform to act on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73152" cy="100584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02F"/>
                </a:solidFill>
                <a:latin typeface="Calibri"/>
              </a:rPr>
              <a:t>19.6M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64592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0F8FF"/>
                </a:solidFill>
                <a:latin typeface="Calibri"/>
              </a:rPr>
              <a:t>Payments sitting in raw CSV files — no fraud detection</a:t>
            </a:r>
            <a:endParaRPr lang="en-IN" sz="1500" b="0" i="0" dirty="0">
              <a:solidFill>
                <a:srgbClr val="F0F8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515600" cy="100584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73152" cy="100584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02F"/>
                </a:solidFill>
                <a:latin typeface="Calibri"/>
              </a:rPr>
              <a:t>89,041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0F8FF"/>
                </a:solidFill>
                <a:latin typeface="Calibri"/>
              </a:rPr>
              <a:t>Customers with no churn visibility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515600" cy="100584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73152" cy="100584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02F"/>
                </a:solidFill>
                <a:latin typeface="Calibri"/>
              </a:rPr>
              <a:t>5 Cities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023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8FF"/>
                </a:solidFill>
                <a:latin typeface="Calibri"/>
              </a:rPr>
              <a:t>No demand forecasting for driver planning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73152" cy="100584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02F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212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0F8FF"/>
                </a:solidFill>
                <a:latin typeface="Calibri"/>
              </a:rPr>
              <a:t>ML models, dashboards, or automated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Medallion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A0C8E8"/>
                </a:solidFill>
                <a:latin typeface="Calibri"/>
              </a:rPr>
              <a:t>Bronze → Silver → Gold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089982" y="1371600"/>
            <a:ext cx="2011680" cy="4389120"/>
          </a:xfrm>
          <a:prstGeom prst="rect">
            <a:avLst/>
          </a:prstGeom>
          <a:solidFill>
            <a:srgbClr val="065A8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81421" y="15087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1421" y="2057400"/>
            <a:ext cx="1828800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99710" y="2688360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0F8FF"/>
                </a:solidFill>
                <a:latin typeface="Calibri"/>
              </a:rPr>
              <a:t>Raw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9710" y="317433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CSV +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9710" y="367725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Delta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9710" y="418017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Overwrite &amp; Append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1934" y="3425022"/>
            <a:ext cx="420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2C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84541" y="1371600"/>
            <a:ext cx="2011680" cy="4389120"/>
          </a:xfrm>
          <a:prstGeom prst="rect">
            <a:avLst/>
          </a:prstGeom>
          <a:solidFill>
            <a:srgbClr val="076E8A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75981" y="15087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75981" y="2057400"/>
            <a:ext cx="1828800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270" y="2688360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Cleaned &amp; validated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270" y="317433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Dedup via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270" y="367725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Quality flags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270" y="418017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MERGE INTO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6494" y="3429000"/>
            <a:ext cx="420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2CB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9102" y="1371600"/>
            <a:ext cx="2011680" cy="4389120"/>
          </a:xfrm>
          <a:prstGeom prst="rect">
            <a:avLst/>
          </a:prstGeom>
          <a:solidFill>
            <a:srgbClr val="028A6E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70542" y="15087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70542" y="2057400"/>
            <a:ext cx="1828800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8830" y="2688360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Feature engineered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8830" y="317433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25 features/customer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8830" y="367725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Partitioned by 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8830" y="418017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OPTIMIZE + VACUUM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C8E8"/>
                </a:solidFill>
                <a:latin typeface="Calibri"/>
              </a:rPr>
              <a:t>All automated via 4 Databricks Jobs · Daily &amp; Weekly schedules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6539F-BB2C-7961-B5B5-93680DB8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AEE7D6-8AB3-62C3-B6EF-050F60505D72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455A58-A6EF-39B5-BBEB-4E207B60445F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A2EBF-B711-1FFD-8EFF-904CCB1FB443}"/>
              </a:ext>
            </a:extLst>
          </p:cNvPr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8ED2E-9630-4104-55D9-ACBA6B018C5C}"/>
              </a:ext>
            </a:extLst>
          </p:cNvPr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Medallion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CD2A6-4557-816E-33EB-128E47ACE5D3}"/>
              </a:ext>
            </a:extLst>
          </p:cNvPr>
          <p:cNvSpPr txBox="1"/>
          <p:nvPr/>
        </p:nvSpPr>
        <p:spPr>
          <a:xfrm>
            <a:off x="73152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C8E8"/>
                </a:solidFill>
                <a:latin typeface="Calibri"/>
              </a:rPr>
              <a:t>Bronze → Silver → Gold → ML → Dashboards → Jobs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C62D4-BE30-FF07-5DB9-A0036803EC64}"/>
              </a:ext>
            </a:extLst>
          </p:cNvPr>
          <p:cNvSpPr/>
          <p:nvPr/>
        </p:nvSpPr>
        <p:spPr>
          <a:xfrm>
            <a:off x="640080" y="1371600"/>
            <a:ext cx="2011680" cy="4389120"/>
          </a:xfrm>
          <a:prstGeom prst="rect">
            <a:avLst/>
          </a:prstGeom>
          <a:solidFill>
            <a:srgbClr val="065A8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C1CCA-4676-503D-DF16-08602D83AF40}"/>
              </a:ext>
            </a:extLst>
          </p:cNvPr>
          <p:cNvSpPr txBox="1"/>
          <p:nvPr/>
        </p:nvSpPr>
        <p:spPr>
          <a:xfrm>
            <a:off x="731519" y="15087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86F15-6890-16BF-7E59-9509EE21D86D}"/>
              </a:ext>
            </a:extLst>
          </p:cNvPr>
          <p:cNvSpPr/>
          <p:nvPr/>
        </p:nvSpPr>
        <p:spPr>
          <a:xfrm>
            <a:off x="731519" y="2057400"/>
            <a:ext cx="1828800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B837B5-ED64-8672-56A7-890612C0D387}"/>
              </a:ext>
            </a:extLst>
          </p:cNvPr>
          <p:cNvSpPr txBox="1"/>
          <p:nvPr/>
        </p:nvSpPr>
        <p:spPr>
          <a:xfrm>
            <a:off x="749808" y="2688360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0F8FF"/>
                </a:solidFill>
                <a:latin typeface="Calibri"/>
              </a:rPr>
              <a:t>Raw ingestion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FC400-B59C-C6BE-09BC-BA330E251159}"/>
              </a:ext>
            </a:extLst>
          </p:cNvPr>
          <p:cNvSpPr txBox="1"/>
          <p:nvPr/>
        </p:nvSpPr>
        <p:spPr>
          <a:xfrm>
            <a:off x="749808" y="317433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CSV + JSON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30C699-1E9A-0804-7C23-6D8968FF1866}"/>
              </a:ext>
            </a:extLst>
          </p:cNvPr>
          <p:cNvSpPr txBox="1"/>
          <p:nvPr/>
        </p:nvSpPr>
        <p:spPr>
          <a:xfrm>
            <a:off x="749808" y="367725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Delta format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3964C4-49C2-8120-9632-D644A3892C7F}"/>
              </a:ext>
            </a:extLst>
          </p:cNvPr>
          <p:cNvSpPr txBox="1"/>
          <p:nvPr/>
        </p:nvSpPr>
        <p:spPr>
          <a:xfrm>
            <a:off x="749808" y="418017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Overwrite &amp; Append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ABA659-4FD4-0412-725B-9447F5BDA50C}"/>
              </a:ext>
            </a:extLst>
          </p:cNvPr>
          <p:cNvSpPr txBox="1"/>
          <p:nvPr/>
        </p:nvSpPr>
        <p:spPr>
          <a:xfrm>
            <a:off x="2542032" y="3425022"/>
            <a:ext cx="420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2C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CA5A0B-DEA3-A80A-F9E8-A4138D0D60DD}"/>
              </a:ext>
            </a:extLst>
          </p:cNvPr>
          <p:cNvSpPr/>
          <p:nvPr/>
        </p:nvSpPr>
        <p:spPr>
          <a:xfrm>
            <a:off x="2834639" y="1371600"/>
            <a:ext cx="2011680" cy="4389120"/>
          </a:xfrm>
          <a:prstGeom prst="rect">
            <a:avLst/>
          </a:prstGeom>
          <a:solidFill>
            <a:srgbClr val="076E8A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0D9A99-17A6-0137-06C8-26A26ABFEE5C}"/>
              </a:ext>
            </a:extLst>
          </p:cNvPr>
          <p:cNvSpPr txBox="1"/>
          <p:nvPr/>
        </p:nvSpPr>
        <p:spPr>
          <a:xfrm>
            <a:off x="2926079" y="15087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E9469E-16B4-6AD1-5564-A955472E1D05}"/>
              </a:ext>
            </a:extLst>
          </p:cNvPr>
          <p:cNvSpPr/>
          <p:nvPr/>
        </p:nvSpPr>
        <p:spPr>
          <a:xfrm>
            <a:off x="2926079" y="2057400"/>
            <a:ext cx="1828800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0105DA-0729-EE90-84A5-3CE6448F3817}"/>
              </a:ext>
            </a:extLst>
          </p:cNvPr>
          <p:cNvSpPr txBox="1"/>
          <p:nvPr/>
        </p:nvSpPr>
        <p:spPr>
          <a:xfrm>
            <a:off x="2944368" y="2688360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Cleaned &amp; validated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982F6C-7CA4-FBA2-1B9F-DBEC9BAF01E8}"/>
              </a:ext>
            </a:extLst>
          </p:cNvPr>
          <p:cNvSpPr txBox="1"/>
          <p:nvPr/>
        </p:nvSpPr>
        <p:spPr>
          <a:xfrm>
            <a:off x="2944368" y="317433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Dedup via windows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651BF4-C55E-5ECB-2F6A-6D24469F07D6}"/>
              </a:ext>
            </a:extLst>
          </p:cNvPr>
          <p:cNvSpPr txBox="1"/>
          <p:nvPr/>
        </p:nvSpPr>
        <p:spPr>
          <a:xfrm>
            <a:off x="2944368" y="367725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Quality flags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49EB1A-D68E-AC85-89BA-7BC023893C67}"/>
              </a:ext>
            </a:extLst>
          </p:cNvPr>
          <p:cNvSpPr txBox="1"/>
          <p:nvPr/>
        </p:nvSpPr>
        <p:spPr>
          <a:xfrm>
            <a:off x="2944368" y="418017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MERGE INTO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17AC6B-42F9-3ABF-96DB-BD0878E2C457}"/>
              </a:ext>
            </a:extLst>
          </p:cNvPr>
          <p:cNvSpPr txBox="1"/>
          <p:nvPr/>
        </p:nvSpPr>
        <p:spPr>
          <a:xfrm>
            <a:off x="4736592" y="3429000"/>
            <a:ext cx="420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2CB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CDE60A-F2AA-F73B-9243-E560FD9C3D2E}"/>
              </a:ext>
            </a:extLst>
          </p:cNvPr>
          <p:cNvSpPr/>
          <p:nvPr/>
        </p:nvSpPr>
        <p:spPr>
          <a:xfrm>
            <a:off x="5029200" y="1371600"/>
            <a:ext cx="2011680" cy="4389120"/>
          </a:xfrm>
          <a:prstGeom prst="rect">
            <a:avLst/>
          </a:prstGeom>
          <a:solidFill>
            <a:srgbClr val="028A6E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74C7EE-3508-2A0F-D2DF-62A3A8A99671}"/>
              </a:ext>
            </a:extLst>
          </p:cNvPr>
          <p:cNvSpPr txBox="1"/>
          <p:nvPr/>
        </p:nvSpPr>
        <p:spPr>
          <a:xfrm>
            <a:off x="5120640" y="15087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FEF7A7-0FA2-95DA-5544-9883EB5869C9}"/>
              </a:ext>
            </a:extLst>
          </p:cNvPr>
          <p:cNvSpPr/>
          <p:nvPr/>
        </p:nvSpPr>
        <p:spPr>
          <a:xfrm>
            <a:off x="5120640" y="2057400"/>
            <a:ext cx="1828800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77C1FE-99C0-EBB4-FF3E-6F078CC16842}"/>
              </a:ext>
            </a:extLst>
          </p:cNvPr>
          <p:cNvSpPr txBox="1"/>
          <p:nvPr/>
        </p:nvSpPr>
        <p:spPr>
          <a:xfrm>
            <a:off x="5138928" y="2688360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Feature engineered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017548-A235-D417-3851-C986B33149FB}"/>
              </a:ext>
            </a:extLst>
          </p:cNvPr>
          <p:cNvSpPr txBox="1"/>
          <p:nvPr/>
        </p:nvSpPr>
        <p:spPr>
          <a:xfrm>
            <a:off x="5138928" y="317433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25 features/customer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A5A3A0-0F25-7437-BBE5-DA0707406CA5}"/>
              </a:ext>
            </a:extLst>
          </p:cNvPr>
          <p:cNvSpPr txBox="1"/>
          <p:nvPr/>
        </p:nvSpPr>
        <p:spPr>
          <a:xfrm>
            <a:off x="5138928" y="367725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Partitioned by city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D4ED34-4EDD-D00D-D0DA-C2912154BDAA}"/>
              </a:ext>
            </a:extLst>
          </p:cNvPr>
          <p:cNvSpPr txBox="1"/>
          <p:nvPr/>
        </p:nvSpPr>
        <p:spPr>
          <a:xfrm>
            <a:off x="5138928" y="418017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OPTIMIZE + VACUUM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AEE80D-9B67-3E01-BBA7-57636530621F}"/>
              </a:ext>
            </a:extLst>
          </p:cNvPr>
          <p:cNvSpPr txBox="1"/>
          <p:nvPr/>
        </p:nvSpPr>
        <p:spPr>
          <a:xfrm>
            <a:off x="6931152" y="3429000"/>
            <a:ext cx="402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2CB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155144-5971-6D59-9CF3-465FAC5C0BDF}"/>
              </a:ext>
            </a:extLst>
          </p:cNvPr>
          <p:cNvSpPr/>
          <p:nvPr/>
        </p:nvSpPr>
        <p:spPr>
          <a:xfrm>
            <a:off x="7223759" y="1371600"/>
            <a:ext cx="2011680" cy="4389120"/>
          </a:xfrm>
          <a:prstGeom prst="rect">
            <a:avLst/>
          </a:prstGeom>
          <a:solidFill>
            <a:srgbClr val="8A5A0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B24841-5A63-363E-2AF2-D1382757A9EB}"/>
              </a:ext>
            </a:extLst>
          </p:cNvPr>
          <p:cNvSpPr txBox="1"/>
          <p:nvPr/>
        </p:nvSpPr>
        <p:spPr>
          <a:xfrm>
            <a:off x="7315199" y="15087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0" dirty="0">
                <a:solidFill>
                  <a:srgbClr val="FFFFFF"/>
                </a:solidFill>
                <a:latin typeface="Calibri"/>
              </a:rPr>
              <a:t>ML L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AYER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208315-1834-A914-7E9E-1833AE1DEF1E}"/>
              </a:ext>
            </a:extLst>
          </p:cNvPr>
          <p:cNvSpPr/>
          <p:nvPr/>
        </p:nvSpPr>
        <p:spPr>
          <a:xfrm>
            <a:off x="7315199" y="2057400"/>
            <a:ext cx="1828800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63DB79-6D60-FAAA-433C-B8DB01079590}"/>
              </a:ext>
            </a:extLst>
          </p:cNvPr>
          <p:cNvSpPr txBox="1"/>
          <p:nvPr/>
        </p:nvSpPr>
        <p:spPr>
          <a:xfrm>
            <a:off x="7333488" y="2688360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4 Models trained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58BE4D-0D76-BE32-1482-6EFEC6A5799B}"/>
              </a:ext>
            </a:extLst>
          </p:cNvPr>
          <p:cNvSpPr txBox="1"/>
          <p:nvPr/>
        </p:nvSpPr>
        <p:spPr>
          <a:xfrm>
            <a:off x="7333488" y="317433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MLflow tracked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EAD401-806D-74EC-A8A6-977D5B97D220}"/>
              </a:ext>
            </a:extLst>
          </p:cNvPr>
          <p:cNvSpPr txBox="1"/>
          <p:nvPr/>
        </p:nvSpPr>
        <p:spPr>
          <a:xfrm>
            <a:off x="7333488" y="367725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Unity Catalog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8709C7-3AB9-F8A9-073F-247F9FA43286}"/>
              </a:ext>
            </a:extLst>
          </p:cNvPr>
          <p:cNvSpPr txBox="1"/>
          <p:nvPr/>
        </p:nvSpPr>
        <p:spPr>
          <a:xfrm>
            <a:off x="7333488" y="418017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Auto retrained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7A8628-3297-A18C-D5AE-6AA166C0BBD5}"/>
              </a:ext>
            </a:extLst>
          </p:cNvPr>
          <p:cNvSpPr txBox="1"/>
          <p:nvPr/>
        </p:nvSpPr>
        <p:spPr>
          <a:xfrm>
            <a:off x="9107424" y="3482112"/>
            <a:ext cx="420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2CB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2F1AFE-1A35-80F9-F66C-EB359FA361CE}"/>
              </a:ext>
            </a:extLst>
          </p:cNvPr>
          <p:cNvSpPr/>
          <p:nvPr/>
        </p:nvSpPr>
        <p:spPr>
          <a:xfrm>
            <a:off x="9418319" y="1371600"/>
            <a:ext cx="2011680" cy="4389120"/>
          </a:xfrm>
          <a:prstGeom prst="rect">
            <a:avLst/>
          </a:prstGeom>
          <a:solidFill>
            <a:srgbClr val="6A1A6A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80552B-C5C7-A933-41AD-879458CBC6B4}"/>
              </a:ext>
            </a:extLst>
          </p:cNvPr>
          <p:cNvSpPr txBox="1"/>
          <p:nvPr/>
        </p:nvSpPr>
        <p:spPr>
          <a:xfrm>
            <a:off x="9509759" y="15087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DASHBOARDS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E7CE6D-6458-7573-CFBB-0F989A5313F0}"/>
              </a:ext>
            </a:extLst>
          </p:cNvPr>
          <p:cNvSpPr/>
          <p:nvPr/>
        </p:nvSpPr>
        <p:spPr>
          <a:xfrm>
            <a:off x="9509759" y="2057400"/>
            <a:ext cx="1828800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99F2BB-EACE-61B9-BD33-6C0F5DC1CDB2}"/>
              </a:ext>
            </a:extLst>
          </p:cNvPr>
          <p:cNvSpPr txBox="1"/>
          <p:nvPr/>
        </p:nvSpPr>
        <p:spPr>
          <a:xfrm>
            <a:off x="9528047" y="2688360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4 SQL dashboards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0BC97A-EFA4-8DCA-440C-AE01A289F2D3}"/>
              </a:ext>
            </a:extLst>
          </p:cNvPr>
          <p:cNvSpPr txBox="1"/>
          <p:nvPr/>
        </p:nvSpPr>
        <p:spPr>
          <a:xfrm>
            <a:off x="9528047" y="317433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Churn · Fraud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563AE7-BF02-E1DC-A855-B02023AFDA1C}"/>
              </a:ext>
            </a:extLst>
          </p:cNvPr>
          <p:cNvSpPr txBox="1"/>
          <p:nvPr/>
        </p:nvSpPr>
        <p:spPr>
          <a:xfrm>
            <a:off x="9528047" y="367725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Demand · Segments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689554-65CC-3991-4DB3-CF743030BC5C}"/>
              </a:ext>
            </a:extLst>
          </p:cNvPr>
          <p:cNvSpPr txBox="1"/>
          <p:nvPr/>
        </p:nvSpPr>
        <p:spPr>
          <a:xfrm>
            <a:off x="9528047" y="4180175"/>
            <a:ext cx="17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Business ready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7A77F3-BC81-8C8F-B5FE-358D95F1B961}"/>
              </a:ext>
            </a:extLst>
          </p:cNvPr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C8E8"/>
                </a:solidFill>
                <a:latin typeface="Calibri"/>
              </a:rPr>
              <a:t>All automated via 4 Databricks Jobs · Daily &amp; Weekly schedules</a:t>
            </a:r>
          </a:p>
        </p:txBody>
      </p:sp>
    </p:spTree>
    <p:extLst>
      <p:ext uri="{BB962C8B-B14F-4D97-AF65-F5344CB8AC3E}">
        <p14:creationId xmlns:p14="http://schemas.microsoft.com/office/powerpoint/2010/main" val="114193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/>
      <p:bldP spid="33" grpId="0" animBg="1"/>
      <p:bldP spid="34" grpId="0"/>
      <p:bldP spid="35" grpId="0"/>
      <p:bldP spid="36" grpId="0"/>
      <p:bldP spid="37" grpId="0"/>
      <p:bldP spid="38" grpId="0"/>
      <p:bldP spid="39" grpId="0" animBg="1"/>
      <p:bldP spid="40" grpId="0"/>
      <p:bldP spid="41" grpId="0" animBg="1"/>
      <p:bldP spid="42" grpId="0"/>
      <p:bldP spid="43" grpId="0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Bronze &amp; Silver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5212080" cy="53949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52120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BRONZE — Raw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90438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CSV files → overwrite + mergeSchema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48806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JSON clickstream → append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7174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Delta format for ACID guarantees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65542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Schema enforcement at write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3910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Full audit trail — _processed_at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82278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Trips · Payments · Customers · Drivers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5394960" cy="53949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005840"/>
            <a:ext cx="5394960" cy="457200"/>
          </a:xfrm>
          <a:prstGeom prst="rect">
            <a:avLst/>
          </a:prstGeom>
          <a:solidFill>
            <a:srgbClr val="076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SILVER — Clean &amp;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9043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Window functions for deduplication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48806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Quality flags — never silent drops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07174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is_fare_mismatch · is_churn_inconsistent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65542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MERGE INTO for safe upserts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23910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Rerunnable without duplicates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08227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8FF"/>
                </a:solidFill>
                <a:latin typeface="Calibri"/>
              </a:rPr>
              <a:t>▸  Free Edition → robust batch pipelines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Gold Layer —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C8E8"/>
                </a:solidFill>
                <a:latin typeface="Calibri"/>
              </a:rPr>
              <a:t>Where raw data becomes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2651760" cy="320040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2651760" cy="54864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417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2F"/>
                </a:solidFill>
                <a:latin typeface="Calibri"/>
              </a:rPr>
              <a:t>25 Features
per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0280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days_since_last_trip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cancellation_rate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9816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rainy_day_trip_ratio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2958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failed_payment_rate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325880"/>
            <a:ext cx="2651760" cy="320040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1325880"/>
            <a:ext cx="2651760" cy="54864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417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2F"/>
                </a:solidFill>
                <a:latin typeface="Calibri"/>
              </a:rPr>
              <a:t>Partitioned
by 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240280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Query only relevant 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67004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Dramatic performance 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3099816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Z-order by trip_date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52958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Co-locate related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2651760" cy="320040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325880"/>
            <a:ext cx="2651760" cy="54864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2F"/>
                </a:solidFill>
                <a:latin typeface="Calibri"/>
              </a:rPr>
              <a:t>OPTIMIZE
+ VACUUM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240280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Compact small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Remove stale versions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099816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Production-grade perf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52958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Storage cost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325880"/>
            <a:ext cx="2651760" cy="320040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1325880"/>
            <a:ext cx="2651760" cy="54864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1417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2F"/>
                </a:solidFill>
                <a:latin typeface="Calibri"/>
              </a:rPr>
              <a:t>Overwrite
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2240280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Full recompute nightly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67004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Clean slate every 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099816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No merge complexity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352958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Simple &amp; reliable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CB"/>
                </a:solidFill>
                <a:latin typeface="Calibri"/>
              </a:rPr>
              <a:t>Gold Tables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074920"/>
            <a:ext cx="2651760" cy="1371600"/>
          </a:xfrm>
          <a:prstGeom prst="rect">
            <a:avLst/>
          </a:prstGeom>
          <a:solidFill>
            <a:srgbClr val="08254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19" y="5138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customer_features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" y="5532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8FF"/>
                </a:solidFill>
                <a:latin typeface="Calibri"/>
              </a:rPr>
              <a:t>89K rows · 25 features per customer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5074920"/>
            <a:ext cx="2651760" cy="1371600"/>
          </a:xfrm>
          <a:prstGeom prst="rect">
            <a:avLst/>
          </a:prstGeom>
          <a:solidFill>
            <a:srgbClr val="08254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66160" y="5138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trip_features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532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8FF"/>
                </a:solidFill>
                <a:latin typeface="Calibri"/>
              </a:rPr>
              <a:t>19.6M rows · Partitioned by city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074920"/>
            <a:ext cx="2651760" cy="1371600"/>
          </a:xfrm>
          <a:prstGeom prst="rect">
            <a:avLst/>
          </a:prstGeom>
          <a:solidFill>
            <a:srgbClr val="08254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5138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payment_features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532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8FF"/>
                </a:solidFill>
                <a:latin typeface="Calibri"/>
              </a:rPr>
              <a:t>19.6M rows · Fraud signals enriched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5074920"/>
            <a:ext cx="2651760" cy="1371600"/>
          </a:xfrm>
          <a:prstGeom prst="rect">
            <a:avLst/>
          </a:prstGeom>
          <a:solidFill>
            <a:srgbClr val="08254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35440" y="5138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funnel_metrics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532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8FF"/>
                </a:solidFill>
                <a:latin typeface="Calibri"/>
              </a:rPr>
              <a:t>Clickstream aggregated to session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ML Layer — 4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C8E8"/>
                </a:solidFill>
                <a:latin typeface="Calibri"/>
              </a:rPr>
              <a:t>Classification · Regression · Clustering — tracked in MLflow, registered in Unity Catalog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651760" cy="4016459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651760" cy="54864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691640"/>
            <a:ext cx="384048" cy="384048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Churn
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212848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3042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8E8"/>
                </a:solidFill>
                <a:latin typeface="Calibri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889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7A"/>
                </a:solidFill>
                <a:latin typeface="Calibri"/>
              </a:rPr>
              <a:t>0.9927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29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794760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749808" y="3913632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00"/>
                </a:solidFill>
                <a:latin typeface="Calibri"/>
              </a:rPr>
              <a:t>98% recall · 89K customers scored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352544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00"/>
                </a:solidFill>
                <a:latin typeface="Calibri"/>
              </a:rPr>
              <a:t>days_since_last_trip = top feature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554480"/>
            <a:ext cx="2651760" cy="4016459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0" y="1554480"/>
            <a:ext cx="2651760" cy="54864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84448" y="1691640"/>
            <a:ext cx="384048" cy="384048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84448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Fraud
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4448" y="2212848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84448" y="23042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8E8"/>
                </a:solidFill>
                <a:latin typeface="Calibri"/>
              </a:rPr>
              <a:t>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27889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6A2A"/>
                </a:solidFill>
                <a:latin typeface="Calibri"/>
              </a:rPr>
              <a:t>0.6989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3429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AUC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4448" y="3794760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3584448" y="3913632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00"/>
                </a:solidFill>
                <a:latin typeface="Calibri"/>
              </a:rPr>
              <a:t>Caught data leakage (AUC=1.0)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4352544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00"/>
                </a:solidFill>
                <a:latin typeface="Calibri"/>
              </a:rPr>
              <a:t>20% stratified sample · 19.6M 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554480"/>
            <a:ext cx="2651760" cy="4016459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1554480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9088" y="1691640"/>
            <a:ext cx="384048" cy="38404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19088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Demand
Forecasting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2212848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19088" y="23042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8E8"/>
                </a:solidFill>
                <a:latin typeface="Calibri"/>
              </a:rPr>
              <a:t>Decision Tree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27889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CB"/>
                </a:solidFill>
                <a:latin typeface="Calibri"/>
              </a:rPr>
              <a:t>0.8519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429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R²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3794760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1" name="TextBox 40"/>
          <p:cNvSpPr txBox="1"/>
          <p:nvPr/>
        </p:nvSpPr>
        <p:spPr>
          <a:xfrm>
            <a:off x="6419088" y="3913632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00"/>
                </a:solidFill>
                <a:latin typeface="Calibri"/>
              </a:rPr>
              <a:t>&lt;1.5% error per 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352544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00"/>
                </a:solidFill>
                <a:latin typeface="Calibri"/>
              </a:rPr>
              <a:t>City + day_of_week = 77% importance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1554480"/>
            <a:ext cx="2651760" cy="4016459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144000" y="1554480"/>
            <a:ext cx="2651760" cy="54864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253728" y="1691640"/>
            <a:ext cx="384048" cy="384048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53728" y="1691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Customer
Segments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53728" y="2212848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53728" y="23042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8E8"/>
                </a:solidFill>
                <a:latin typeface="Calibri"/>
              </a:rPr>
              <a:t>KMeans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3728" y="27889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02F"/>
                </a:solidFill>
                <a:latin typeface="Calibri"/>
              </a:rPr>
              <a:t>0.7263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53728" y="3429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Silhouette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53728" y="3794760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3" name="TextBox 52"/>
          <p:cNvSpPr txBox="1"/>
          <p:nvPr/>
        </p:nvSpPr>
        <p:spPr>
          <a:xfrm>
            <a:off x="9253728" y="3913632"/>
            <a:ext cx="2423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00"/>
                </a:solidFill>
                <a:latin typeface="Calibri"/>
              </a:rPr>
              <a:t>2 clean segments: </a:t>
            </a:r>
            <a:endParaRPr lang="en-IN" sz="1200" b="1" i="0" dirty="0">
              <a:solidFill>
                <a:srgbClr val="FFFF00"/>
              </a:solidFill>
              <a:latin typeface="Calibri"/>
            </a:endParaRPr>
          </a:p>
          <a:p>
            <a:pPr algn="l"/>
            <a:r>
              <a:rPr lang="en-IN" sz="1200" b="1" dirty="0">
                <a:solidFill>
                  <a:srgbClr val="FFFF00"/>
                </a:solidFill>
                <a:latin typeface="Calibri"/>
              </a:rPr>
              <a:t>	</a:t>
            </a:r>
            <a:r>
              <a:rPr sz="1200" b="1" i="0" dirty="0">
                <a:solidFill>
                  <a:srgbClr val="FFFF00"/>
                </a:solidFill>
                <a:latin typeface="Calibri"/>
              </a:rPr>
              <a:t>Active vs</a:t>
            </a:r>
            <a:r>
              <a:rPr lang="en-IN" sz="1200" b="1" i="0" dirty="0">
                <a:solidFill>
                  <a:srgbClr val="FFFF00"/>
                </a:solidFill>
                <a:latin typeface="Calibri"/>
              </a:rPr>
              <a:t> </a:t>
            </a:r>
            <a:r>
              <a:rPr sz="1200" b="1" i="0" dirty="0">
                <a:solidFill>
                  <a:srgbClr val="FFFF00"/>
                </a:solidFill>
                <a:latin typeface="Calibri"/>
              </a:rPr>
              <a:t>Churned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3728" y="4352544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00"/>
                </a:solidFill>
                <a:latin typeface="Calibri"/>
              </a:rPr>
              <a:t>Unsupervised validated supervised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Churn Prediction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7A"/>
                </a:solidFill>
                <a:latin typeface="Calibri"/>
              </a:rPr>
              <a:t>Random Forest · AUC 0.9927 · 98% Recall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5029200" cy="34747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CB"/>
                </a:solidFill>
                <a:latin typeface="Calibri"/>
              </a:rPr>
              <a:t>Confusion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7A"/>
                </a:solidFill>
                <a:latin typeface="Calibri"/>
              </a:rPr>
              <a:t>78,184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True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221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8E8"/>
                </a:solidFill>
                <a:latin typeface="Calibri"/>
              </a:rPr>
              <a:t>Active →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A"/>
                </a:solidFill>
                <a:latin typeface="Calibri"/>
              </a:rPr>
              <a:t>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False 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8E8"/>
                </a:solidFill>
                <a:latin typeface="Calibri"/>
              </a:rPr>
              <a:t>Active → Churned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1985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A"/>
                </a:solidFill>
                <a:latin typeface="Calibri"/>
              </a:rPr>
              <a:t>210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4198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False Negative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721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8E8"/>
                </a:solidFill>
                <a:latin typeface="Calibri"/>
              </a:rPr>
              <a:t>Churned → Missed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966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7A"/>
                </a:solidFill>
                <a:latin typeface="Calibri"/>
              </a:rPr>
              <a:t>10,560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1696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True Positive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4714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8E8"/>
                </a:solidFill>
                <a:latin typeface="Calibri"/>
              </a:rPr>
              <a:t>Churned → Caught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25880"/>
            <a:ext cx="5486400" cy="34747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CB"/>
                </a:solidFill>
                <a:latin typeface="Calibri"/>
              </a:rPr>
              <a:t>Feature Importance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920240"/>
            <a:ext cx="1938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8FF"/>
                </a:solidFill>
                <a:latin typeface="Calibri"/>
              </a:rPr>
              <a:t>days_since_last_trip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1927078"/>
            <a:ext cx="2468879" cy="274320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53344" y="1928740"/>
            <a:ext cx="64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Calibri"/>
              </a:rPr>
              <a:t>0.4494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423160"/>
            <a:ext cx="1938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8FF"/>
                </a:solidFill>
                <a:latin typeface="Calibri"/>
              </a:rPr>
              <a:t>total_trips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8744" y="2429998"/>
            <a:ext cx="991067" cy="2743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75531" y="2431660"/>
            <a:ext cx="64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Calibri"/>
              </a:rPr>
              <a:t>0.1804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926080"/>
            <a:ext cx="1938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8FF"/>
                </a:solidFill>
                <a:latin typeface="Calibri"/>
              </a:rPr>
              <a:t>total_spend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2932918"/>
            <a:ext cx="788349" cy="2743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72813" y="2934580"/>
            <a:ext cx="64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Calibri"/>
              </a:rPr>
              <a:t>0.1435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429000"/>
            <a:ext cx="1938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8FF"/>
                </a:solidFill>
                <a:latin typeface="Calibri"/>
              </a:rPr>
              <a:t>completed_trips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3435838"/>
            <a:ext cx="705943" cy="2743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90407" y="3437500"/>
            <a:ext cx="64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0.1285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931920"/>
            <a:ext cx="1938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8FF"/>
                </a:solidFill>
                <a:latin typeface="Calibri"/>
              </a:rPr>
              <a:t>cancelled_trips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38744" y="3938758"/>
            <a:ext cx="188984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73448" y="3940420"/>
            <a:ext cx="64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0.0344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434840"/>
            <a:ext cx="1938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8FF"/>
                </a:solidFill>
                <a:latin typeface="Calibri"/>
              </a:rPr>
              <a:t>failed_payment_count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8744" y="4441677"/>
            <a:ext cx="136793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21257" y="4443340"/>
            <a:ext cx="64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0.0249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983480"/>
            <a:ext cx="10789920" cy="1371600"/>
          </a:xfrm>
          <a:prstGeom prst="rect">
            <a:avLst/>
          </a:prstGeom>
          <a:solidFill>
            <a:srgbClr val="003520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1520" y="4983480"/>
            <a:ext cx="73152" cy="1371600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" y="50474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7A"/>
                </a:solidFill>
                <a:latin typeface="Calibri"/>
              </a:rPr>
              <a:t>Key Insight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440680"/>
            <a:ext cx="10332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sng" dirty="0" err="1">
                <a:solidFill>
                  <a:srgbClr val="FFFF00"/>
                </a:solidFill>
                <a:latin typeface="Calibri"/>
              </a:rPr>
              <a:t>days_since_last_trip</a:t>
            </a:r>
            <a:r>
              <a:rPr sz="1300" b="1" i="0" u="sng" dirty="0">
                <a:solidFill>
                  <a:srgbClr val="FFFF00"/>
                </a:solidFill>
                <a:latin typeface="Calibri"/>
              </a:rPr>
              <a:t> drives 45% of predictive power</a:t>
            </a:r>
            <a:r>
              <a:rPr sz="1300" b="0" i="0" dirty="0">
                <a:solidFill>
                  <a:srgbClr val="F0F8FF"/>
                </a:solidFill>
                <a:latin typeface="Calibri"/>
              </a:rPr>
              <a:t>. Any active customer crossing 30 days inactive should trigger an automated re-engagement offer before they fully churn.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Fraud Detection — The Leakage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5303520" cy="2468880"/>
          </a:xfrm>
          <a:prstGeom prst="rect">
            <a:avLst/>
          </a:prstGeom>
          <a:solidFill>
            <a:srgbClr val="401010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73152" cy="24688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0789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888"/>
                </a:solidFill>
                <a:latin typeface="Calibri"/>
              </a:rPr>
              <a:t>Run 1 — Data Leakage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444"/>
                </a:solidFill>
                <a:latin typeface="Calibri"/>
              </a:rPr>
              <a:t>AUC = 1.0000  ·  F1 = 1.0000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Features is_fraud_card, is_orphan_payment,
is_fare_mismatch directly define is_suspicious.
Model was reading the answer — not learning.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5303520" cy="2468880"/>
          </a:xfrm>
          <a:prstGeom prst="rect">
            <a:avLst/>
          </a:prstGeom>
          <a:solidFill>
            <a:srgbClr val="002818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73152" cy="2468880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0789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7A"/>
                </a:solidFill>
                <a:latin typeface="Calibri"/>
              </a:rPr>
              <a:t>Run 2 — Leakage Removed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7A"/>
                </a:solidFill>
                <a:latin typeface="Calibri"/>
              </a:rPr>
              <a:t>AUC = 0.6989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3 leakage columns removed. Honest score.
Remaining features: amount, fare_delta_pct,
distance, surge — genuine but weaker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9202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2C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5303520" cy="25603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4903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2F"/>
                </a:solidFill>
                <a:latin typeface="Calibri"/>
              </a:rPr>
              <a:t>Class Imbalance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4937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0F8FF"/>
                </a:solidFill>
                <a:latin typeface="Calibri"/>
              </a:rPr>
              <a:t>0.74% suspicious payments
Class weight = 68× for suspicious
Without weights → 99.26% accuracy, 0% fraud caught
AUC sees through imbalance · Accuracy does not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657600"/>
            <a:ext cx="5303520" cy="25603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74903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2F"/>
                </a:solidFill>
                <a:latin typeface="Calibri"/>
              </a:rPr>
              <a:t>Stratified Sampling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06240"/>
            <a:ext cx="493776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0F8FF"/>
                </a:solidFill>
                <a:latin typeface="Calibri"/>
              </a:rPr>
              <a:t>19.6M rows → 1GB serverless cache limit
20% stratified sample = 3.9M rows
Sampled </a:t>
            </a:r>
            <a:r>
              <a:rPr sz="1400" b="0" i="0" dirty="0">
                <a:solidFill>
                  <a:srgbClr val="F0F8FF"/>
                </a:solidFill>
                <a:latin typeface="Calibri"/>
              </a:rPr>
              <a:t>suspicious</a:t>
            </a:r>
            <a:r>
              <a:rPr sz="1200" b="0" i="0" dirty="0">
                <a:solidFill>
                  <a:srgbClr val="F0F8FF"/>
                </a:solidFill>
                <a:latin typeface="Calibri"/>
              </a:rPr>
              <a:t> &amp; normal separately
Preserves 0.74% fraud ratio in sample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Demand Forecasting &amp; Segmentation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5303520" cy="4572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078992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61A40"/>
                </a:solidFill>
                <a:latin typeface="Calibri"/>
              </a:rPr>
              <a:t>DEMAND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2CB"/>
                </a:solidFill>
                <a:latin typeface="Calibri"/>
              </a:rPr>
              <a:t>0.8519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002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2CB"/>
                </a:solidFill>
                <a:latin typeface="Calibri"/>
              </a:rPr>
              <a:t>2,837 trips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08483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6002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2CB"/>
                </a:solidFill>
                <a:latin typeface="Calibri"/>
              </a:rPr>
              <a:t>&lt;1.5%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8483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City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5595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Decision Tree Regressor won over Linear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91083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19.6M trips → 910 rows (5 cities × 182 days)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6657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City index: 0.55 importance · Day of week: 0.23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4205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City + day = 77% of demand explained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17547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Delhi: 31,839 avg daily trips — highest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93035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Friday peak · Sunday trough — 27% weekend drop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005840"/>
            <a:ext cx="5303520" cy="53035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1005840"/>
            <a:ext cx="5303520" cy="457200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1078992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61A40"/>
                </a:solidFill>
                <a:latin typeface="Calibri"/>
              </a:rPr>
              <a:t>CUSTOMER SEGMENTATION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6002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2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08483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6002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2F"/>
                </a:solidFill>
                <a:latin typeface="Calibri"/>
              </a:rPr>
              <a:t>0.7263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08483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Silhouette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16002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2F"/>
                </a:solidFill>
                <a:latin typeface="Calibri"/>
              </a:rPr>
              <a:t>89,041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08483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C8E8"/>
                </a:solidFill>
                <a:latin typeface="Calibri"/>
              </a:rPr>
              <a:t>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715595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KMeans elbow method K=2 to 8 evaluated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191083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K=2 gave best silhouette — 2 natural groups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66657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Segment 0: Churned — 6,678 · 96 days inactive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14205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Segment 1: Active  — 82,363 · 10 days inactive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547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Churn rate: 100% vs 5% — perfect separation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093035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8FF"/>
                </a:solidFill>
                <a:latin typeface="Calibri"/>
              </a:rPr>
              <a:t>▸  Unsupervised validated supervised churn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MLflow &amp; Model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C8E8"/>
                </a:solidFill>
                <a:latin typeface="Calibri"/>
              </a:rPr>
              <a:t>Track · Register · Version · Serve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651760" cy="31089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389888"/>
            <a:ext cx="411480" cy="41148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389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4173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Log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Every training run logged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Params · Metrics ·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644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Full experiment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280160"/>
            <a:ext cx="2651760" cy="31089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0" y="1280160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84448" y="1389888"/>
            <a:ext cx="411480" cy="41148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84448" y="1389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1" y="14173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Infer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3500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Unity Catalog requires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8072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Input cols + output cols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2644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Enforced at registration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280160"/>
            <a:ext cx="2651760" cy="31089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1280160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19088" y="1389888"/>
            <a:ext cx="411480" cy="41148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1389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14173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log_model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3500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Entire pipeline packaged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8072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StringIndexer + Scaler +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644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Staged via UC Volume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280160"/>
            <a:ext cx="2651760" cy="310896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0" y="1280160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53728" y="1389888"/>
            <a:ext cx="411480" cy="41148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53728" y="1389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14173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register_model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3500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Versioned in UC Registry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8072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urbanride.default.*_model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26440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· Full catalog path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572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CB"/>
                </a:solidFill>
                <a:latin typeface="Calibri"/>
              </a:rPr>
              <a:t>Models Registered in Unity Catalog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029200"/>
            <a:ext cx="2651760" cy="722376"/>
          </a:xfrm>
          <a:prstGeom prst="rect">
            <a:avLst/>
          </a:prstGeom>
          <a:solidFill>
            <a:srgbClr val="08254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19" y="51206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0" dirty="0" err="1">
                <a:solidFill>
                  <a:srgbClr val="00C2CB"/>
                </a:solidFill>
                <a:latin typeface="Calibri"/>
              </a:rPr>
              <a:t>urbanride.default.urbanride_churn_model</a:t>
            </a:r>
            <a:endParaRPr sz="1000" i="0" dirty="0">
              <a:solidFill>
                <a:srgbClr val="00C2CB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474720" y="5029200"/>
            <a:ext cx="2651760" cy="722376"/>
          </a:xfrm>
          <a:prstGeom prst="rect">
            <a:avLst/>
          </a:prstGeom>
          <a:solidFill>
            <a:srgbClr val="08254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51206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0">
                <a:solidFill>
                  <a:srgbClr val="00C2CB"/>
                </a:solidFill>
                <a:latin typeface="Calibri"/>
              </a:rPr>
              <a:t>urbanride.default.urbanride_fraud_model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029200"/>
            <a:ext cx="2651760" cy="722376"/>
          </a:xfrm>
          <a:prstGeom prst="rect">
            <a:avLst/>
          </a:prstGeom>
          <a:solidFill>
            <a:srgbClr val="08254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51206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0">
                <a:solidFill>
                  <a:srgbClr val="00C2CB"/>
                </a:solidFill>
                <a:latin typeface="Calibri"/>
              </a:rPr>
              <a:t>urbanride.default.urbanride_demand_model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5029200"/>
            <a:ext cx="2651760" cy="722376"/>
          </a:xfrm>
          <a:prstGeom prst="rect">
            <a:avLst/>
          </a:prstGeom>
          <a:solidFill>
            <a:srgbClr val="082542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0" y="51206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0">
                <a:solidFill>
                  <a:srgbClr val="00C2CB"/>
                </a:solidFill>
                <a:latin typeface="Calibri"/>
              </a:rPr>
              <a:t>urbanride.default.urbanride_segmentation_model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825" y="6122857"/>
            <a:ext cx="10515600" cy="320040"/>
          </a:xfrm>
          <a:prstGeom prst="rect">
            <a:avLst/>
          </a:prstGeom>
          <a:solidFill>
            <a:srgbClr val="00201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6163056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0F8FF"/>
                </a:solidFill>
                <a:latin typeface="Calibri"/>
              </a:rPr>
              <a:t>⚠  Serverless 1GB cache limit — del model + </a:t>
            </a:r>
            <a:r>
              <a:rPr sz="1100" b="0" i="0" dirty="0" err="1">
                <a:solidFill>
                  <a:srgbClr val="F0F8FF"/>
                </a:solidFill>
                <a:latin typeface="Calibri"/>
              </a:rPr>
              <a:t>gc.collect</a:t>
            </a:r>
            <a:r>
              <a:rPr sz="1100" b="0" i="0" dirty="0">
                <a:solidFill>
                  <a:srgbClr val="F0F8FF"/>
                </a:solidFill>
                <a:latin typeface="Calibri"/>
              </a:rPr>
              <a:t>() between fits. One model in cache at a time.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84A0B5-E7AA-6704-8907-618C7F7F818B}"/>
              </a:ext>
            </a:extLst>
          </p:cNvPr>
          <p:cNvSpPr/>
          <p:nvPr/>
        </p:nvSpPr>
        <p:spPr>
          <a:xfrm>
            <a:off x="640080" y="4334256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DB9100-E856-D954-5C08-8D54229991D3}"/>
              </a:ext>
            </a:extLst>
          </p:cNvPr>
          <p:cNvSpPr/>
          <p:nvPr/>
        </p:nvSpPr>
        <p:spPr>
          <a:xfrm>
            <a:off x="3474720" y="4334256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8EDBA59-5728-B8A1-F1A3-62340A337EE6}"/>
              </a:ext>
            </a:extLst>
          </p:cNvPr>
          <p:cNvSpPr/>
          <p:nvPr/>
        </p:nvSpPr>
        <p:spPr>
          <a:xfrm>
            <a:off x="6309360" y="4334256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D4694C3-28CA-204A-3F06-3F4E4CFC08BF}"/>
              </a:ext>
            </a:extLst>
          </p:cNvPr>
          <p:cNvSpPr/>
          <p:nvPr/>
        </p:nvSpPr>
        <p:spPr>
          <a:xfrm>
            <a:off x="9144000" y="4334256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SQL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C8E8"/>
                </a:solidFill>
                <a:latin typeface="Calibri"/>
              </a:rPr>
              <a:t>4 dashboards serving 4 different business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651760" cy="512064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2651760" cy="54864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73523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Churn
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92662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C27A"/>
                </a:solidFill>
                <a:latin typeface="Calibri"/>
              </a:rPr>
              <a:t>Marketing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095159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Risk tier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16367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High risk by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137575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Retention priority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658783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Top 20 by lifetime spend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280160"/>
            <a:ext cx="2651760" cy="512064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0" y="1280160"/>
            <a:ext cx="2651760" cy="54864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84448" y="1473523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Fraud
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4448" y="2192662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377440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E86A2A"/>
                </a:solidFill>
                <a:latin typeface="Calibri"/>
              </a:rPr>
              <a:t>Fraud Ops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3095159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Daily fraud trend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3616367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Catch rate counter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4137575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Confusion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4658783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High risk payment queue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280160"/>
            <a:ext cx="2651760" cy="512064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1280160"/>
            <a:ext cx="265176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1473523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Demand
Forecasting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2192662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2377440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C2CB"/>
                </a:solidFill>
                <a:latin typeface="Calibri"/>
              </a:rPr>
              <a:t>City Ops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3095159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Actual vs predicted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616367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Demand by day of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4137575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Monthly city 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4658783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Peak demand 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1280160"/>
            <a:ext cx="2651760" cy="512064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0" y="1280160"/>
            <a:ext cx="2651760" cy="54864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53728" y="1473523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Customer
Segments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53728" y="2192662"/>
            <a:ext cx="2423160" cy="365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53728" y="2377440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FFC02F"/>
                </a:solidFill>
                <a:latin typeface="Calibri"/>
              </a:rPr>
              <a:t>Marketing &amp; CS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3095159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Segment size pie chart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6" y="3616367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Churn rate by segment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4137575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High value churned 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63456" y="4658783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8FF"/>
                </a:solidFill>
                <a:latin typeface="Calibri"/>
              </a:rPr>
              <a:t>▸  City distribution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C8E8"/>
                </a:solidFill>
                <a:latin typeface="Calibri"/>
              </a:rPr>
              <a:t>All dashboards refresh automatically after nightly Gold rebuild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Jobs &amp;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A0C8E8"/>
                </a:solidFill>
                <a:latin typeface="Calibri"/>
              </a:rPr>
              <a:t>Fully automated · Zero manual intervention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" y="1294049"/>
            <a:ext cx="10515600" cy="114300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7532" y="1294049"/>
            <a:ext cx="2011680" cy="1143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" y="140377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JOB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" y="182440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8FF"/>
                </a:solidFill>
                <a:latin typeface="Calibri"/>
              </a:rPr>
              <a:t>Bronze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2092" y="133976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65A82"/>
                </a:solidFill>
                <a:latin typeface="Calibri"/>
              </a:rPr>
              <a:t>Daily · 01:00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2092" y="1751249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0F8FF"/>
                </a:solidFill>
                <a:latin typeface="Calibri"/>
              </a:rPr>
              <a:t>▸  </a:t>
            </a:r>
            <a:r>
              <a:rPr lang="en-IN" sz="1200" dirty="0" err="1">
                <a:solidFill>
                  <a:srgbClr val="F0F8FF"/>
                </a:solidFill>
                <a:latin typeface="Calibri"/>
              </a:rPr>
              <a:t>Urbanride</a:t>
            </a:r>
            <a:r>
              <a:rPr sz="1200" b="0" i="0" dirty="0">
                <a:solidFill>
                  <a:srgbClr val="F0F8FF"/>
                </a:solidFill>
                <a:latin typeface="Calibri"/>
              </a:rPr>
              <a:t>_01 — CSV 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2092" y="2098721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0F8FF"/>
                </a:solidFill>
                <a:latin typeface="Calibri"/>
              </a:rPr>
              <a:t>▸  </a:t>
            </a:r>
            <a:r>
              <a:rPr lang="en-IN" sz="1200" dirty="0" err="1">
                <a:solidFill>
                  <a:srgbClr val="F0F8FF"/>
                </a:solidFill>
                <a:latin typeface="Calibri"/>
              </a:rPr>
              <a:t>Urbanride</a:t>
            </a:r>
            <a:r>
              <a:rPr sz="1200" b="0" i="0" dirty="0">
                <a:solidFill>
                  <a:srgbClr val="F0F8FF"/>
                </a:solidFill>
                <a:latin typeface="Calibri"/>
              </a:rPr>
              <a:t>_02 — JSON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292" y="161408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8E8"/>
                </a:solidFill>
                <a:latin typeface="Calibri"/>
              </a:rPr>
              <a:t>Asia/Kolkata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" y="2574209"/>
            <a:ext cx="10515600" cy="114300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" y="2574209"/>
            <a:ext cx="2011680" cy="1143000"/>
          </a:xfrm>
          <a:prstGeom prst="rect">
            <a:avLst/>
          </a:prstGeom>
          <a:solidFill>
            <a:srgbClr val="076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" y="268393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JOB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" y="310456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8FF"/>
                </a:solidFill>
                <a:latin typeface="Calibri"/>
              </a:rPr>
              <a:t>Silver 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2092" y="261992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76E8A"/>
                </a:solidFill>
                <a:latin typeface="Calibri"/>
              </a:rPr>
              <a:t>Daily · 02:00 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2092" y="303140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▸  03 Customers · 03b Drivers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2092" y="337888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▸  04 Trips · 05 Payments · 06 Clickstream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292" y="289424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8E8"/>
                </a:solidFill>
                <a:latin typeface="Calibri"/>
              </a:rPr>
              <a:t>Asia/Kolkata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" y="3854369"/>
            <a:ext cx="10515600" cy="114300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7532" y="3854369"/>
            <a:ext cx="2011680" cy="1143000"/>
          </a:xfrm>
          <a:prstGeom prst="rect">
            <a:avLst/>
          </a:prstGeom>
          <a:solidFill>
            <a:srgbClr val="02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" y="396409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JOB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" y="438472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8FF"/>
                </a:solidFill>
                <a:latin typeface="Calibri"/>
              </a:rPr>
              <a:t>Gold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2092" y="3900089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28A6E"/>
                </a:solidFill>
                <a:latin typeface="Calibri"/>
              </a:rPr>
              <a:t>Daily · 0</a:t>
            </a:r>
            <a:r>
              <a:rPr lang="en-IN" sz="1400" b="1" i="0" dirty="0">
                <a:solidFill>
                  <a:srgbClr val="028A6E"/>
                </a:solidFill>
                <a:latin typeface="Calibri"/>
              </a:rPr>
              <a:t>4</a:t>
            </a:r>
            <a:r>
              <a:rPr sz="1400" b="1" i="0" dirty="0">
                <a:solidFill>
                  <a:srgbClr val="028A6E"/>
                </a:solidFill>
                <a:latin typeface="Calibri"/>
              </a:rPr>
              <a:t>:00 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2092" y="431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▸  07 Customer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2092" y="465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0F8FF"/>
                </a:solidFill>
                <a:latin typeface="Calibri"/>
              </a:rPr>
              <a:t>▸  08 Trip · 09 Payment · 10 Funnel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292" y="417440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8E8"/>
                </a:solidFill>
                <a:latin typeface="Calibri"/>
              </a:rPr>
              <a:t>Asia/Kolkata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" y="5134528"/>
            <a:ext cx="10515600" cy="114300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7532" y="5134528"/>
            <a:ext cx="2011680" cy="1143000"/>
          </a:xfrm>
          <a:prstGeom prst="rect">
            <a:avLst/>
          </a:prstGeom>
          <a:solidFill>
            <a:srgbClr val="8A5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" y="524425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JOB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" y="5664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8FF"/>
                </a:solidFill>
                <a:latin typeface="Calibri"/>
              </a:rPr>
              <a:t>ML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22092" y="518024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5A02"/>
                </a:solidFill>
                <a:latin typeface="Calibri"/>
              </a:rPr>
              <a:t>Weekly · Sunday 04:00 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22092" y="559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▸  11 Churn · 12 Fraud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22092" y="593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8FF"/>
                </a:solidFill>
                <a:latin typeface="Calibri"/>
              </a:rPr>
              <a:t>▸  13 Demand · 14 Segmentation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292" y="5454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C8E8"/>
                </a:solidFill>
                <a:latin typeface="Calibri"/>
              </a:rPr>
              <a:t>Asia/Kolkata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" y="636862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C8E8"/>
                </a:solidFill>
                <a:latin typeface="Calibri"/>
              </a:rPr>
              <a:t>01:00 AM  →  Raw 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6140" y="6368623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0C8E8"/>
                </a:solidFill>
                <a:latin typeface="Calibri"/>
              </a:rPr>
              <a:t>0</a:t>
            </a:r>
            <a:r>
              <a:rPr lang="en-IN" sz="1200" b="0" i="0" dirty="0">
                <a:solidFill>
                  <a:srgbClr val="A0C8E8"/>
                </a:solidFill>
                <a:latin typeface="Calibri"/>
              </a:rPr>
              <a:t>6</a:t>
            </a:r>
            <a:r>
              <a:rPr sz="1200" b="0" i="0" dirty="0">
                <a:solidFill>
                  <a:srgbClr val="A0C8E8"/>
                </a:solidFill>
                <a:latin typeface="Calibri"/>
              </a:rPr>
              <a:t>:00 AM  →  ML predictions updated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6620" y="636862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C8E8"/>
                </a:solidFill>
                <a:latin typeface="Calibri"/>
              </a:rPr>
              <a:t>Morning   →  Dashboards fresh for business teams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C8E8"/>
                </a:solidFill>
                <a:latin typeface="Calibri"/>
              </a:rPr>
              <a:t>What the data taught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515600" cy="9601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960120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3990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7A"/>
                </a:solidFill>
                <a:latin typeface="Calibri"/>
              </a:rPr>
              <a:t>Recency beats everything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417320"/>
            <a:ext cx="6675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 dirty="0" err="1">
                <a:solidFill>
                  <a:srgbClr val="F0F8FF"/>
                </a:solidFill>
                <a:latin typeface="Calibri"/>
              </a:rPr>
              <a:t>days_since_last_trip</a:t>
            </a:r>
            <a:r>
              <a:rPr sz="1400" i="0" dirty="0">
                <a:solidFill>
                  <a:srgbClr val="F0F8FF"/>
                </a:solidFill>
                <a:latin typeface="Calibri"/>
              </a:rPr>
              <a:t> = 45% of churn prediction power. A customer who stops riding tells you more about their future than all their past trips combined.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39"/>
            <a:ext cx="10515600" cy="9601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377439"/>
            <a:ext cx="73152" cy="9601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5059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Calibri"/>
              </a:rPr>
              <a:t>Perfect scores are dangerous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68879"/>
            <a:ext cx="6675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 dirty="0">
                <a:solidFill>
                  <a:srgbClr val="F0F8FF"/>
                </a:solidFill>
                <a:latin typeface="Calibri"/>
              </a:rPr>
              <a:t>AUC 1.0 on fraud detection was data leakage — not performance. The most important diagnostic skill is knowing when results are too good to be true.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29000"/>
            <a:ext cx="10515600" cy="9601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73152" cy="960120"/>
          </a:xfrm>
          <a:prstGeom prst="rect">
            <a:avLst/>
          </a:prstGeom>
          <a:solidFill>
            <a:srgbClr val="FF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502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2F"/>
                </a:solidFill>
                <a:latin typeface="Calibri"/>
              </a:rPr>
              <a:t>Unsupervised validated supervised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20440"/>
            <a:ext cx="6675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F0F8FF"/>
                </a:solidFill>
                <a:latin typeface="Calibri"/>
              </a:rPr>
              <a:t>KMeans with no label knowledge found Active and Churned groups independently. Random Forest found the same groups with full label access. Two algorithms, same truth.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80559"/>
            <a:ext cx="10515600" cy="9601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480559"/>
            <a:ext cx="73152" cy="9601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CB"/>
                </a:solidFill>
                <a:latin typeface="Calibri"/>
              </a:rPr>
              <a:t>City + day = 77% of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571999"/>
            <a:ext cx="6675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F0F8FF"/>
                </a:solidFill>
                <a:latin typeface="Calibri"/>
              </a:rPr>
              <a:t>The simplest signals are often the strongest. Geography and calendar explain most of ride-hailing demand before any complex feature engineering.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532120"/>
            <a:ext cx="10515600" cy="9601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532120"/>
            <a:ext cx="73152" cy="960120"/>
          </a:xfrm>
          <a:prstGeom prst="rect">
            <a:avLst/>
          </a:prstGeom>
          <a:solidFill>
            <a:srgbClr val="A0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6052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C8E8"/>
                </a:solidFill>
                <a:latin typeface="Calibri"/>
              </a:rPr>
              <a:t>AUC over accuracy on imbalanced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623559"/>
            <a:ext cx="6675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>
                <a:solidFill>
                  <a:srgbClr val="F0F8FF"/>
                </a:solidFill>
                <a:latin typeface="Calibri"/>
              </a:rPr>
              <a:t>3 of 4 models had severe class imbalance. Without class weights — high accuracy, zero useful predictions. AUC cannot be fooled by predicting the majority 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Platform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C2CB"/>
                </a:solidFill>
                <a:latin typeface="Calibri"/>
              </a:rPr>
              <a:t>Built on Databricks Free Edition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7315200" cy="45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2926080" cy="11887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0779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02F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47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Notebooks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834640"/>
            <a:ext cx="2926080" cy="11887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290779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02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3547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ML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834640"/>
            <a:ext cx="2926080" cy="11887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19" y="290779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02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547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Dashboards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206240"/>
            <a:ext cx="2926080" cy="11887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27939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02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19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Jobs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206240"/>
            <a:ext cx="2926080" cy="11887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79" y="427939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02F"/>
                </a:solidFill>
                <a:latin typeface="Calibri"/>
              </a:rPr>
              <a:t>89K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4919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4206240"/>
            <a:ext cx="2926080" cy="1188720"/>
          </a:xfrm>
          <a:prstGeom prst="rect">
            <a:avLst/>
          </a:prstGeom>
          <a:solidFill>
            <a:srgbClr val="0D2D55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19" y="4279392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02F"/>
                </a:solidFill>
                <a:latin typeface="Calibri"/>
              </a:rPr>
              <a:t>19.6M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4919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8E8"/>
                </a:solidFill>
                <a:latin typeface="Calibri"/>
              </a:rPr>
              <a:t>Databricks · Delta Lake · Unity Catalog · MLflow · Spark ·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1583</Words>
  <Application>Microsoft Office PowerPoint</Application>
  <PresentationFormat>Custom</PresentationFormat>
  <Paragraphs>332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Bankar</cp:lastModifiedBy>
  <cp:revision>5</cp:revision>
  <dcterms:created xsi:type="dcterms:W3CDTF">2013-01-27T09:14:16Z</dcterms:created>
  <dcterms:modified xsi:type="dcterms:W3CDTF">2026-03-18T13:22:44Z</dcterms:modified>
  <cp:category/>
</cp:coreProperties>
</file>